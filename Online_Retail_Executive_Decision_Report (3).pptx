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Executive Decision Report</a:t>
            </a:r>
          </a:p>
          <a:p>
            <a:pPr>
              <a:defRPr sz="2400">
                <a:solidFill>
                  <a:srgbClr val="C8DCF0"/>
                </a:solidFill>
              </a:defRPr>
            </a:pPr>
            <a:r>
              <a:t>Online Retail Business Intelligence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004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Executive-ready synthesis of revenue, order, customer, product and geographic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26122" y="4937760"/>
            <a:ext cx="390927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rPr dirty="0"/>
              <a:t>Prepared by: Mohammad Jubaid</a:t>
            </a:r>
          </a:p>
          <a:p>
            <a:pPr algn="ctr">
              <a:defRPr sz="1800"/>
            </a:pPr>
            <a:r>
              <a:rPr lang="en-US" dirty="0"/>
              <a:t>                     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D"/>
                </a:solidFill>
              </a:defRPr>
            </a:pPr>
            <a:r>
              <a:t>Dashboard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2057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t>Total Revenue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t>9,747,747.93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234440"/>
            <a:ext cx="2057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t>Total Orders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t>25,900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234440"/>
            <a:ext cx="2057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t>Total Customers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t>4,373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234440"/>
            <a:ext cx="2057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t>Total Quantity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t>5,176,450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234440"/>
            <a:ext cx="2057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t>AOV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t>376.36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The dashboard consolidates core sales KPIs into one executive view.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Product analysis highlights the highest-revenue items in the displayed Top 10 view.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Country mapping provides a geographic view of revenue concentration.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CAC and Churn Rate are not directly measurable from the available transaction fields.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Business Objective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429768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1731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352564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Understand retail sales performance, identify </a:t>
            </a:r>
            <a:endParaRPr lang="en-US" sz="14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revenue drivers and support data-informed</a:t>
            </a:r>
            <a:endParaRPr lang="en-US" sz="14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64008" cy="429768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1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Analytical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33296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Revenue, orders, customers, quantity, AOV,</a:t>
            </a:r>
            <a:endParaRPr lang="en-US" sz="14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 time trend, Top 10 products and country </a:t>
            </a:r>
            <a:endParaRPr lang="en-US" sz="14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64008" cy="4297680"/>
          </a:xfrm>
          <a:prstGeom prst="rect">
            <a:avLst/>
          </a:prstGeom>
          <a:solidFill>
            <a:srgbClr val="DC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1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Decision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3246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Translate measured findings into product, customer/</a:t>
            </a:r>
            <a:r>
              <a:rPr lang="en-US" sz="1400" dirty="0"/>
              <a:t> </a:t>
            </a:r>
            <a:r>
              <a:rPr sz="1400" dirty="0"/>
              <a:t>order and market</a:t>
            </a:r>
            <a:r>
              <a:rPr lang="en-US" sz="1400" dirty="0"/>
              <a:t> </a:t>
            </a:r>
            <a:r>
              <a:rPr sz="1400" dirty="0"/>
              <a:t>actions without inventing unavailable</a:t>
            </a:r>
            <a:r>
              <a:rPr lang="en-US" sz="1400" dirty="0"/>
              <a:t> </a:t>
            </a:r>
            <a:r>
              <a:rPr sz="1400" dirty="0"/>
              <a:t>cost metrics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D"/>
                </a:solidFill>
              </a:defRPr>
            </a:pPr>
            <a:r>
              <a:t>Transaction data to executive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64008" cy="22860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71983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Load &amp; inspect</a:t>
            </a:r>
            <a:br>
              <a:rPr sz="1200" dirty="0"/>
            </a:br>
            <a:br>
              <a:rPr sz="1200" dirty="0"/>
            </a:br>
            <a:r>
              <a:rPr sz="1200" dirty="0"/>
              <a:t>Online Retail transaction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011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39" y="1828800"/>
            <a:ext cx="64008" cy="22860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9659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31720"/>
            <a:ext cx="14528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Create revenue</a:t>
            </a:r>
            <a:br>
              <a:rPr sz="1200" dirty="0"/>
            </a:br>
            <a:br>
              <a:rPr sz="1200" dirty="0"/>
            </a:br>
            <a:r>
              <a:rPr sz="1200" dirty="0"/>
              <a:t>Quantity × </a:t>
            </a:r>
            <a:r>
              <a:rPr sz="1200" dirty="0" err="1"/>
              <a:t>UnitPrice</a:t>
            </a:r>
            <a:endParaRPr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5166359" y="1828800"/>
            <a:ext cx="2011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66359" y="1828800"/>
            <a:ext cx="64008" cy="22860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9659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331720"/>
            <a:ext cx="19564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Build KPIs</a:t>
            </a:r>
            <a:br>
              <a:rPr sz="1200" dirty="0"/>
            </a:br>
            <a:r>
              <a:rPr sz="1200" dirty="0"/>
              <a:t>Revenue, Orders, Customers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, Quantity, AOV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2011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1828800"/>
            <a:ext cx="64008" cy="22860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59" y="19659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7" y="2221797"/>
            <a:ext cx="21105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Visualize</a:t>
            </a:r>
            <a:br>
              <a:rPr sz="1200" dirty="0"/>
            </a:b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Trend, Top Products, Country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828800"/>
            <a:ext cx="2011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9800" y="1828800"/>
            <a:ext cx="64008" cy="22860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196596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331720"/>
            <a:ext cx="149842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Interpret</a:t>
            </a:r>
            <a:br>
              <a:rPr sz="1200" dirty="0"/>
            </a:br>
            <a:br>
              <a:rPr sz="1200" dirty="0"/>
            </a:br>
            <a:r>
              <a:rPr sz="1200" dirty="0"/>
              <a:t>Drivers, risks,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800600"/>
            <a:ext cx="8503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28800" y="4800600"/>
            <a:ext cx="64008" cy="82296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11680" y="4937760"/>
            <a:ext cx="8183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Metric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303520"/>
            <a:ext cx="786824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The measured KPIs use fields available in the transaction dataset; cost-based KPIs require additional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Executive KPI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39716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D"/>
                </a:solidFill>
              </a:defRPr>
            </a:pPr>
            <a:r>
              <a:rPr sz="1600" dirty="0"/>
              <a:t>Values shown in the final Power BI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2004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rPr sz="1400" dirty="0"/>
              <a:t>Total Revenue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rPr dirty="0"/>
              <a:t>9,747,747.93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2004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rPr sz="1400" dirty="0"/>
              <a:t>Total Orders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rPr dirty="0"/>
              <a:t>25,900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2004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rPr sz="1400" dirty="0"/>
              <a:t>Total Customers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rPr dirty="0"/>
              <a:t>4,373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200400"/>
            <a:ext cx="32004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rPr sz="1400" dirty="0"/>
              <a:t>Total Quantity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rPr dirty="0"/>
              <a:t>5,176,450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0400"/>
            <a:ext cx="320040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F6E7D"/>
                </a:solidFill>
              </a:defRPr>
            </a:pPr>
            <a:r>
              <a:rPr sz="1400" dirty="0"/>
              <a:t>AOV</a:t>
            </a:r>
          </a:p>
          <a:p>
            <a:pPr algn="ctr">
              <a:defRPr sz="1900" b="1">
                <a:solidFill>
                  <a:srgbClr val="162640"/>
                </a:solidFill>
              </a:defRPr>
            </a:pPr>
            <a:r>
              <a:rPr dirty="0"/>
              <a:t>376.36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5029200"/>
            <a:ext cx="9784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88720" y="5029200"/>
            <a:ext cx="64008" cy="82296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5166360"/>
            <a:ext cx="9464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Executive readout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32120"/>
            <a:ext cx="61700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600" dirty="0"/>
              <a:t>These metrics establish the current sales baseline for future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Revenue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23179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D"/>
                </a:solidFill>
              </a:defRPr>
            </a:pPr>
            <a:r>
              <a:rPr sz="1600" dirty="0"/>
              <a:t>Time-based revenue view</a:t>
            </a:r>
          </a:p>
        </p:txBody>
      </p:sp>
      <p:pic>
        <p:nvPicPr>
          <p:cNvPr id="6" name="Picture 5" descr="online_retai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83680" cy="37735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371600"/>
            <a:ext cx="4023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1371600"/>
            <a:ext cx="64008" cy="128016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50876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What is shown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1115" y="1874519"/>
            <a:ext cx="39050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The dashboard displays Total Revenue by Year for 2010 and 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2011.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926080"/>
            <a:ext cx="4023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0" y="2926080"/>
            <a:ext cx="64008" cy="146304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306324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Decision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429000"/>
            <a:ext cx="3840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Use the trend to identify stronger/weaker periods and relate them </a:t>
            </a:r>
            <a:r>
              <a:rPr lang="en-US" sz="1200" dirty="0"/>
              <a:t> </a:t>
            </a:r>
            <a:r>
              <a:rPr sz="1200" dirty="0"/>
              <a:t>to product and market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663440"/>
            <a:ext cx="4023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4663440"/>
            <a:ext cx="64008" cy="914400"/>
          </a:xfrm>
          <a:prstGeom prst="rect">
            <a:avLst/>
          </a:prstGeom>
          <a:solidFill>
            <a:srgbClr val="DC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79" y="480060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Next refinement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166359"/>
            <a:ext cx="353853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Monthly drill-down can provide a more granular view 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when required.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Key Revenue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29109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D"/>
                </a:solidFill>
              </a:defRPr>
            </a:pPr>
            <a:r>
              <a:rPr sz="1400" dirty="0"/>
              <a:t>Top products visible in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1. DOTCOM POSTAGE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307592"/>
            <a:ext cx="3657600" cy="2286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2. REGENCY CAKESTAND 3 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929384"/>
            <a:ext cx="3337560" cy="2286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78024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rPr dirty="0"/>
              <a:t>3. WHITE HANGING HEART T-LIGHT HOLDER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2551176"/>
            <a:ext cx="3017520" cy="2286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3099816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4. PARTY BUNTING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172968"/>
            <a:ext cx="2697480" cy="2286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72160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5. JUMBO BAG RED RETROSPOT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794760"/>
            <a:ext cx="2377440" cy="2286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6. RABBIT NIGHT LIGHT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416552"/>
            <a:ext cx="2057400" cy="2286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965192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7. POSTAGE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5038344"/>
            <a:ext cx="1737360" cy="2286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0" y="1463040"/>
            <a:ext cx="2926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12480" y="1463040"/>
            <a:ext cx="64008" cy="201168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59" y="160020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1965960"/>
            <a:ext cx="26744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High-revenue products merit focused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inventory</a:t>
            </a:r>
            <a:r>
              <a:rPr lang="en-US" sz="1200" dirty="0"/>
              <a:t> </a:t>
            </a:r>
            <a:r>
              <a:rPr sz="1200" dirty="0"/>
              <a:t>availability and product-level 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performance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840480"/>
            <a:ext cx="2926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12480" y="3840480"/>
            <a:ext cx="64008" cy="13716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59" y="39776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Evidence note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9" y="4343400"/>
            <a:ext cx="29146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Product names and ordering are taken from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the dashboard's Top Products 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Geographic Revenue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21671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D"/>
                </a:solidFill>
              </a:defRPr>
            </a:pPr>
            <a:r>
              <a:rPr sz="1400" dirty="0"/>
              <a:t>Country-level revenue map</a:t>
            </a:r>
          </a:p>
        </p:txBody>
      </p:sp>
      <p:pic>
        <p:nvPicPr>
          <p:cNvPr id="6" name="Picture 5" descr="online_retai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0356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3716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64008" cy="13716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9" y="150876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What the map adds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1874519"/>
            <a:ext cx="31741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A geographic view helps identify where revenue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activity</a:t>
            </a:r>
            <a:r>
              <a:rPr lang="en-US" sz="1200" dirty="0"/>
              <a:t> i</a:t>
            </a:r>
            <a:r>
              <a:rPr sz="1200" dirty="0"/>
              <a:t>s concentrated.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10896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0" y="3108960"/>
            <a:ext cx="64008" cy="146304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9" y="324612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Decision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803" y="3611880"/>
            <a:ext cx="3684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Compare country revenue with product mix, orders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and customers before allocating additional resources.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892040"/>
            <a:ext cx="3474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0" y="4892040"/>
            <a:ext cx="64008" cy="822960"/>
          </a:xfrm>
          <a:prstGeom prst="rect">
            <a:avLst/>
          </a:prstGeom>
          <a:solidFill>
            <a:srgbClr val="DC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9" y="502920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802" y="5349240"/>
            <a:ext cx="35788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Revenue concentration is not the same as profitability.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Risk Areas &amp; Data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1828800"/>
          </a:xfrm>
          <a:prstGeom prst="rect">
            <a:avLst/>
          </a:prstGeom>
          <a:solidFill>
            <a:srgbClr val="DC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1731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Transaction treatment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932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Negative quantities/values can reflect returns or cancellations and should be 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lang="en-IN" sz="1200" dirty="0"/>
              <a:t>r</a:t>
            </a:r>
            <a:r>
              <a:rPr sz="1200" dirty="0" err="1"/>
              <a:t>eviewed</a:t>
            </a:r>
            <a:r>
              <a:rPr lang="en-US" sz="1200" dirty="0"/>
              <a:t> </a:t>
            </a:r>
            <a:r>
              <a:rPr sz="1200" dirty="0"/>
              <a:t> before final revenue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64008" cy="1828800"/>
          </a:xfrm>
          <a:prstGeom prst="rect">
            <a:avLst/>
          </a:prstGeom>
          <a:solidFill>
            <a:srgbClr val="BE4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Customer completeness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37037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Missing </a:t>
            </a:r>
            <a:r>
              <a:rPr sz="1200" dirty="0" err="1"/>
              <a:t>CustomerID</a:t>
            </a:r>
            <a:r>
              <a:rPr sz="1200" dirty="0"/>
              <a:t> values limit customer-level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64008" cy="182880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61187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CAC 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80" y="3977639"/>
            <a:ext cx="544700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No acquisition-cost field is provided, so CAC is not a measured KPI in this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64008" cy="182880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7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Churn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39"/>
            <a:ext cx="48326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No explicit churn/retention status is provided, so Churn Rate is not directly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measurable.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Strategic Recommendation 1 — Product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64008" cy="438912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1731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3484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Prioritize monitoring of high-revenue products and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protect availability through focused inventory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64008" cy="438912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1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3452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The Top Products view identifies items that appear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prominently in the revenue 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64008" cy="4389120"/>
          </a:xfrm>
          <a:prstGeom prst="rect">
            <a:avLst/>
          </a:prstGeom>
          <a:solidFill>
            <a:srgbClr val="DC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417319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9" y="1783080"/>
            <a:ext cx="4278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Track product revenue, order quantity and stock-out/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availability indicators after implementation.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Strategic Recommendation 2 — Customer &amp; Order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Segment customers using CustomerID-linked transaction history.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Identify high-value customer groups and examine repeat-order behavior.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Test bundles or targeted offers designed to increase order value.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Monitor AOV and order frequency as primary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417320"/>
            <a:ext cx="3749039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417320"/>
            <a:ext cx="64008" cy="155448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554480"/>
            <a:ext cx="34289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920240"/>
            <a:ext cx="150900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Current AOV: 376.36.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383280"/>
            <a:ext cx="3749039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3383280"/>
            <a:ext cx="64008" cy="1737360"/>
          </a:xfrm>
          <a:prstGeom prst="rect">
            <a:avLst/>
          </a:prstGeom>
          <a:solidFill>
            <a:srgbClr val="DC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3520440"/>
            <a:ext cx="34289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Data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886200"/>
            <a:ext cx="37373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Retention/churn and campaign-cost fields are needed to 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quantify customer ROI.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Strategic Recommendation 3 — Market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Use the country revenue map to identify markets with meaningful sales activity.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Compare market revenue with product mix and order volume before expanding investment.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Prioritize deeper analysis where revenue, customers and product demand align.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630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80960" y="1463040"/>
            <a:ext cx="64008" cy="146304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6002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Decision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65960"/>
            <a:ext cx="350474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Country revenue distribution from the Power BI 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383280"/>
            <a:ext cx="3566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3383280"/>
            <a:ext cx="64008" cy="1645920"/>
          </a:xfrm>
          <a:prstGeom prst="rect">
            <a:avLst/>
          </a:prstGeom>
          <a:solidFill>
            <a:srgbClr val="DC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352044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Guardrail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886200"/>
            <a:ext cx="34513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Do not treat revenue alone as profitability or market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attractiveness.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ROI Framework &amp; Implementation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ROI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720" y="1737360"/>
            <a:ext cx="5554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A defensible numerical ROI projection requires implementation cost plus 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incremental revenue/profit and campaign or operating costs. Those cost fields</a:t>
            </a:r>
            <a:endParaRPr lang="en-US" sz="1200" dirty="0"/>
          </a:p>
          <a:p>
            <a:pPr>
              <a:defRPr sz="1100">
                <a:solidFill>
                  <a:srgbClr val="232B33"/>
                </a:solidFill>
              </a:defRPr>
            </a:pPr>
            <a:r>
              <a:rPr sz="1200" dirty="0"/>
              <a:t> are not present in</a:t>
            </a:r>
            <a:r>
              <a:rPr lang="en-US" sz="1200" dirty="0"/>
              <a:t> </a:t>
            </a:r>
            <a:r>
              <a:rPr sz="1200" dirty="0"/>
              <a:t>the current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64008" cy="86868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89204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t>Validate transaction treatment and product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331720"/>
            <a:ext cx="64008" cy="86868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79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39"/>
            <a:ext cx="489204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t>Run customer/order-value segmentation and define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2900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429000"/>
            <a:ext cx="64008" cy="86868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489204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t>Review country performance and select markets for deeper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52628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4526280"/>
            <a:ext cx="64008" cy="868680"/>
          </a:xfrm>
          <a:prstGeom prst="rect">
            <a:avLst/>
          </a:prstGeom>
          <a:solidFill>
            <a:srgbClr val="2A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Week 4+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29200"/>
            <a:ext cx="489204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t>Implement pilots and monitor revenue, orders and AOV.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640"/>
                </a:solidFill>
              </a:defRPr>
            </a:pPr>
            <a:r>
              <a:t>Executive Decision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B33"/>
                </a:solidFill>
              </a:defRPr>
            </a:pPr>
            <a:r>
              <a:t>• Use the Power BI dashboard as the baseline monitoring view for revenue, orders, customers, quantity and AOV.</a:t>
            </a:r>
          </a:p>
          <a:p>
            <a:pPr>
              <a:spcAft>
                <a:spcPts val="900"/>
              </a:spcAft>
              <a:defRPr sz="1900">
                <a:solidFill>
                  <a:srgbClr val="232B33"/>
                </a:solidFill>
              </a:defRPr>
            </a:pPr>
            <a:r>
              <a:t>• Focus operational attention on products prominent in the Top Revenue ranking.</a:t>
            </a:r>
          </a:p>
          <a:p>
            <a:pPr>
              <a:spcAft>
                <a:spcPts val="900"/>
              </a:spcAft>
              <a:defRPr sz="1900">
                <a:solidFill>
                  <a:srgbClr val="232B33"/>
                </a:solidFill>
              </a:defRPr>
            </a:pPr>
            <a:r>
              <a:t>• Use country-level revenue patterns to guide deeper market analysis.</a:t>
            </a:r>
          </a:p>
          <a:p>
            <a:pPr>
              <a:spcAft>
                <a:spcPts val="900"/>
              </a:spcAft>
              <a:defRPr sz="1900">
                <a:solidFill>
                  <a:srgbClr val="232B33"/>
                </a:solidFill>
              </a:defRPr>
            </a:pPr>
            <a:r>
              <a:t>• Add acquisition-cost, retention/churn and profitability data before making CAC, churn or numerical ROI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486400"/>
            <a:ext cx="8503920" cy="85039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flipH="1">
            <a:off x="1851660" y="5486400"/>
            <a:ext cx="45719" cy="850392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5623560"/>
            <a:ext cx="8183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40"/>
                </a:solidFill>
              </a:defRPr>
            </a:pPr>
            <a:r>
              <a:t>Next data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906874"/>
            <a:ext cx="61035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3"/>
                </a:solidFill>
              </a:defRPr>
            </a:pPr>
            <a:r>
              <a:rPr sz="1400" dirty="0"/>
              <a:t>Connect marketing cost, retention and profit/cost data to the existing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Analytics Portfolio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</a:defRPr>
            </a:pPr>
            <a:r>
              <a:t>• Executive Decision Report — presentation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</a:defRPr>
            </a:pPr>
            <a:r>
              <a:t>• Power BI Online Retail Dashboard — .pbix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</a:defRPr>
            </a:pPr>
            <a:r>
              <a:t>• Dashboard PDF export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</a:defRPr>
            </a:pPr>
            <a:r>
              <a:t>• Final Analytical Jupyter Notebook — 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94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DDC"/>
                </a:solidFill>
              </a:defRPr>
            </a:pPr>
            <a:r>
              <a:t>Prepared for mentor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938</Words>
  <Application>Microsoft Office PowerPoint</Application>
  <PresentationFormat>Widescreen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Jubaid</cp:lastModifiedBy>
  <cp:revision>2</cp:revision>
  <dcterms:created xsi:type="dcterms:W3CDTF">2013-01-27T09:14:16Z</dcterms:created>
  <dcterms:modified xsi:type="dcterms:W3CDTF">2026-09-16T05:43:27Z</dcterms:modified>
  <cp:category/>
</cp:coreProperties>
</file>